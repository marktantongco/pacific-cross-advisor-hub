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Insurance Penetration (%)</c:v>
                </c:pt>
              </c:strCache>
            </c:strRef>
          </c:tx>
          <c:spPr>
            <a:solidFill>
              <a:srgbClr val="1585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85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85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57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85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85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5857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Indonesia</c:v>
                  </c:pt>
                  <c:pt idx="1">
                    <c:v>Vietnam</c:v>
                  </c:pt>
                  <c:pt idx="2">
                    <c:v>Philippines</c:v>
                  </c:pt>
                  <c:pt idx="3">
                    <c:v>Thailand</c:v>
                  </c:pt>
                  <c:pt idx="4">
                    <c:v>Malaysia</c:v>
                  </c:pt>
                  <c:pt idx="5">
                    <c:v>Singapore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</c:v>
                </c:pt>
                <c:pt idx="1">
                  <c:v>3.3</c:v>
                </c:pt>
                <c:pt idx="2">
                  <c:v>1.79</c:v>
                </c:pt>
                <c:pt idx="3">
                  <c:v>4.5</c:v>
                </c:pt>
                <c:pt idx="4">
                  <c:v>4.8</c:v>
                </c:pt>
                <c:pt idx="5">
                  <c:v>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 B Annual Premium (USD)</c:v>
                </c:pt>
              </c:strCache>
            </c:strRef>
          </c:tx>
          <c:spPr>
            <a:solidFill>
              <a:srgbClr val="00B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0-3</c:v>
                  </c:pt>
                  <c:pt idx="1">
                    <c:v>4-18</c:v>
                  </c:pt>
                  <c:pt idx="2">
                    <c:v>19-25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  <c:pt idx="8">
                    <c:v>51-55</c:v>
                  </c:pt>
                  <c:pt idx="9">
                    <c:v>56-60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1890</c:v>
                </c:pt>
                <c:pt idx="1">
                  <c:v>2001</c:v>
                </c:pt>
                <c:pt idx="2">
                  <c:v>2698</c:v>
                </c:pt>
                <c:pt idx="3">
                  <c:v>3382</c:v>
                </c:pt>
                <c:pt idx="4">
                  <c:v>3707</c:v>
                </c:pt>
                <c:pt idx="5">
                  <c:v>4064</c:v>
                </c:pt>
                <c:pt idx="6">
                  <c:v>4378</c:v>
                </c:pt>
                <c:pt idx="7">
                  <c:v>4689</c:v>
                </c:pt>
                <c:pt idx="8">
                  <c:v>4907</c:v>
                </c:pt>
                <c:pt idx="9">
                  <c:v>5359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FS 100 Annual Premium (PHP)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0-20</c:v>
                  </c:pt>
                  <c:pt idx="1">
                    <c:v>21-35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56-65</c:v>
                  </c:pt>
                  <c:pt idx="5">
                    <c:v>66-70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9350</c:v>
                </c:pt>
                <c:pt idx="1">
                  <c:v>14040</c:v>
                </c:pt>
                <c:pt idx="2">
                  <c:v>20730</c:v>
                </c:pt>
                <c:pt idx="3">
                  <c:v>30660</c:v>
                </c:pt>
                <c:pt idx="4">
                  <c:v>48860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8950" y="1230957"/>
            <a:ext cx="1015901" cy="76200"/>
          </a:xfrm>
          <a:prstGeom prst="roundRect">
            <a:avLst>
              <a:gd name="adj" fmla="val 50000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8950" y="1561058"/>
            <a:ext cx="75134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FF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CROSS PHILIPPINES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8950" y="1916609"/>
            <a:ext cx="9575929" cy="110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70"/>
              </a:lnSpc>
              <a:spcAft>
                <a:spcPts val="12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PROTECT YOUR FUTURE,</a:t>
            </a:r>
            <a:endParaRPr lang="en-US" sz="3800" dirty="0"/>
          </a:p>
          <a:p>
            <a:pPr algn="l" indent="0" marL="0">
              <a:lnSpc>
                <a:spcPts val="4370"/>
              </a:lnSpc>
              <a:spcAft>
                <a:spcPts val="12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 CAP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88950" y="3178969"/>
            <a:ext cx="75134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B0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Cross Insurance Advisor Training | Blue Royale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8950" y="3769519"/>
            <a:ext cx="75134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F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75+ Years of Trust | pacificcross.com.ph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418951"/>
            <a:ext cx="634901" cy="50750"/>
          </a:xfrm>
          <a:prstGeom prst="roundRect">
            <a:avLst>
              <a:gd name="adj" fmla="val 50049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571202"/>
            <a:ext cx="9906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600" dirty="0">
                <a:solidFill>
                  <a:srgbClr val="1585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2000" y="114582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06512" y="1236315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0701" y="1236315"/>
            <a:ext cx="24144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Philippine Insurance Reality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0701" y="1602879"/>
            <a:ext cx="2539901" cy="12650"/>
          </a:xfrm>
          <a:prstGeom prst="rect">
            <a:avLst/>
          </a:prstGeom>
          <a:solidFill>
            <a:srgbClr val="D4CF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171703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06512" y="1807518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0701" y="1807518"/>
            <a:ext cx="14128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Our Products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0701" y="2174081"/>
            <a:ext cx="2539901" cy="12650"/>
          </a:xfrm>
          <a:prstGeom prst="rect">
            <a:avLst/>
          </a:prstGeom>
          <a:solidFill>
            <a:srgbClr val="D4CF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2000" y="2288232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06512" y="2378720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0701" y="2378720"/>
            <a:ext cx="14316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0701" y="2745284"/>
            <a:ext cx="2539901" cy="12650"/>
          </a:xfrm>
          <a:prstGeom prst="rect">
            <a:avLst/>
          </a:prstGeom>
          <a:solidFill>
            <a:srgbClr val="D4CF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2000" y="285943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06512" y="2949922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0701" y="2949922"/>
            <a:ext cx="18901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0701" y="3316486"/>
            <a:ext cx="2539901" cy="12650"/>
          </a:xfrm>
          <a:prstGeom prst="rect">
            <a:avLst/>
          </a:prstGeom>
          <a:solidFill>
            <a:srgbClr val="D4CF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2000" y="343063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06512" y="3521125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0701" y="3521125"/>
            <a:ext cx="16284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Advisor Playbook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0701" y="3887688"/>
            <a:ext cx="2539901" cy="12650"/>
          </a:xfrm>
          <a:prstGeom prst="rect">
            <a:avLst/>
          </a:prstGeom>
          <a:solidFill>
            <a:srgbClr val="D4CF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2000" y="4001839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06512" y="4092327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0701" y="4092327"/>
            <a:ext cx="19871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Roadmap to Success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68201"/>
            <a:ext cx="634901" cy="50750"/>
          </a:xfrm>
          <a:prstGeom prst="roundRect">
            <a:avLst>
              <a:gd name="adj" fmla="val 50049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495151"/>
            <a:ext cx="102364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585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PHILIPPINE INSURANCE REALITY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4901" y="844302"/>
            <a:ext cx="80316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INDICATORS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34901" y="1085552"/>
            <a:ext cx="3860899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8713" y="1085552"/>
            <a:ext cx="0" cy="885825"/>
          </a:xfrm>
          <a:prstGeom prst="line">
            <a:avLst/>
          </a:prstGeom>
          <a:noFill/>
          <a:ln w="47625">
            <a:solidFill>
              <a:srgbClr val="1585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0227" y="1237952"/>
            <a:ext cx="35270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585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1.79%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0227" y="1685627"/>
            <a:ext cx="3527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Penetration Rate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8200" y="1085552"/>
            <a:ext cx="3860899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72013" y="1085552"/>
            <a:ext cx="0" cy="885825"/>
          </a:xfrm>
          <a:prstGeom prst="line">
            <a:avLst/>
          </a:prstGeom>
          <a:noFill/>
          <a:ln w="47625">
            <a:solidFill>
              <a:srgbClr val="FF6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526" y="1237952"/>
            <a:ext cx="35270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6A3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₱4,414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73526" y="1685627"/>
            <a:ext cx="3527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Per Capita Spending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901" y="2098328"/>
            <a:ext cx="3860899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58713" y="2098328"/>
            <a:ext cx="0" cy="885825"/>
          </a:xfrm>
          <a:prstGeom prst="line">
            <a:avLst/>
          </a:prstGeom>
          <a:noFill/>
          <a:ln w="47625">
            <a:solidFill>
              <a:srgbClr val="FF6A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0227" y="2250728"/>
            <a:ext cx="35270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6A3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60227" y="2698403"/>
            <a:ext cx="3527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Filipinos Without Private Health Insurance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8200" y="2098328"/>
            <a:ext cx="3860899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72013" y="2098328"/>
            <a:ext cx="0" cy="885825"/>
          </a:xfrm>
          <a:prstGeom prst="line">
            <a:avLst/>
          </a:prstGeom>
          <a:noFill/>
          <a:ln w="47625">
            <a:solidFill>
              <a:srgbClr val="1585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526" y="2250728"/>
            <a:ext cx="35270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585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10-12%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73526" y="2698403"/>
            <a:ext cx="3527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Medical Inflation Rate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4901" y="3085654"/>
            <a:ext cx="7874198" cy="2667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87301" y="3161854"/>
            <a:ext cx="77207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Compare: Singapore 6.2% | Malaysia 4.8% | Thailand 4.5%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18951"/>
            <a:ext cx="634901" cy="50750"/>
          </a:xfrm>
          <a:prstGeom prst="roundRect">
            <a:avLst>
              <a:gd name="adj" fmla="val 50049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571202"/>
            <a:ext cx="102364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rgbClr val="1585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HOW DOES THE PH STACK UP?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4901" y="974378"/>
            <a:ext cx="8031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ASEAN INSURANCE PENETRATION RATES (%)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62000" y="1209229"/>
          <a:ext cx="7620000" cy="3555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18951"/>
            <a:ext cx="634901" cy="50750"/>
          </a:xfrm>
          <a:prstGeom prst="roundRect">
            <a:avLst>
              <a:gd name="adj" fmla="val 50049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571202"/>
            <a:ext cx="102364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rgbClr val="1585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WHY INSURANCE IS A GAME CHANGER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4901" y="974378"/>
            <a:ext cx="8031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TRUTHS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4901" y="1285429"/>
            <a:ext cx="2506266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309241"/>
            <a:ext cx="2506266" cy="0"/>
          </a:xfrm>
          <a:prstGeom prst="line">
            <a:avLst/>
          </a:prstGeom>
          <a:noFill/>
          <a:ln w="47625">
            <a:solidFill>
              <a:srgbClr val="1585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051" y="1561654"/>
            <a:ext cx="21419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dirty="0">
                <a:solidFill>
                  <a:srgbClr val="FF6A3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38051" y="2066479"/>
            <a:ext cx="21419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Filipinos face financial ruin from medical emergencies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18867" y="1285429"/>
            <a:ext cx="2506266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18867" y="1309241"/>
            <a:ext cx="2506266" cy="0"/>
          </a:xfrm>
          <a:prstGeom prst="line">
            <a:avLst/>
          </a:prstGeom>
          <a:noFill/>
          <a:ln w="47625">
            <a:solidFill>
              <a:srgbClr val="FF6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2018" y="1561654"/>
            <a:ext cx="21419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6A3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₱500K+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2018" y="1904554"/>
            <a:ext cx="2141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ICU bill vs ₱15K-30K average annual insurance premium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02834" y="1285429"/>
            <a:ext cx="2506266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02834" y="1309241"/>
            <a:ext cx="2506266" cy="0"/>
          </a:xfrm>
          <a:prstGeom prst="line">
            <a:avLst/>
          </a:prstGeom>
          <a:noFill/>
          <a:ln w="47625">
            <a:solidFill>
              <a:srgbClr val="1585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5984" y="1561654"/>
            <a:ext cx="21419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585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6-7 yrs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05984" y="1961704"/>
            <a:ext cx="21419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costs double every 6-7 years in the Philippines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4901" y="2777579"/>
            <a:ext cx="7874198" cy="425351"/>
          </a:xfrm>
          <a:prstGeom prst="roundRect">
            <a:avLst>
              <a:gd name="adj" fmla="val 11943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3372" y="2904530"/>
            <a:ext cx="761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isn't an expense. It's a wealth preservation tool.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30101"/>
            <a:ext cx="8229600" cy="190500"/>
          </a:xfrm>
          <a:prstGeom prst="roundRect">
            <a:avLst>
              <a:gd name="adj" fmla="val 26667"/>
            </a:avLst>
          </a:prstGeom>
          <a:solidFill>
            <a:srgbClr val="00B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8201"/>
            <a:ext cx="80832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ROYALE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6801"/>
            <a:ext cx="106984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PLANS, 1 MISSION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45952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medical coverage for every stage of life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06252"/>
            <a:ext cx="2658517" cy="3261271"/>
          </a:xfrm>
          <a:prstGeom prst="roundRect">
            <a:avLst>
              <a:gd name="adj" fmla="val 4777"/>
            </a:avLst>
          </a:prstGeom>
          <a:solidFill>
            <a:srgbClr val="FFFFFF"/>
          </a:solidFill>
          <a:ln w="38100">
            <a:solidFill>
              <a:srgbClr val="00B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7700" y="1422053"/>
            <a:ext cx="23230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7700" y="1739503"/>
            <a:ext cx="23230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500K Coverage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7700" y="1993404"/>
            <a:ext cx="232306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$1,676/yr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700" y="2256830"/>
            <a:ext cx="23230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19-25 starting rate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7700" y="2447330"/>
            <a:ext cx="23230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worldwide protection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42667" y="1206252"/>
            <a:ext cx="2658666" cy="3261271"/>
          </a:xfrm>
          <a:prstGeom prst="roundRect">
            <a:avLst>
              <a:gd name="adj" fmla="val 4777"/>
            </a:avLst>
          </a:prstGeom>
          <a:solidFill>
            <a:srgbClr val="FFFFFF"/>
          </a:solidFill>
          <a:ln w="38100">
            <a:solidFill>
              <a:srgbClr val="FF57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33167" y="1422053"/>
            <a:ext cx="2277666" cy="145852"/>
          </a:xfrm>
          <a:prstGeom prst="roundRect">
            <a:avLst>
              <a:gd name="adj" fmla="val 34830"/>
            </a:avLst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34668" y="1447354"/>
            <a:ext cx="21161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33167" y="1644104"/>
            <a:ext cx="23232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33167" y="1961555"/>
            <a:ext cx="2323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1M Coverage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33167" y="2215455"/>
            <a:ext cx="23232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$2,698/yr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33167" y="2478881"/>
            <a:ext cx="2323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19-25 starting rate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33167" y="2669381"/>
            <a:ext cx="2323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Dental + Vision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28283" y="1206252"/>
            <a:ext cx="2658517" cy="3261271"/>
          </a:xfrm>
          <a:prstGeom prst="roundRect">
            <a:avLst>
              <a:gd name="adj" fmla="val 4777"/>
            </a:avLst>
          </a:prstGeom>
          <a:solidFill>
            <a:srgbClr val="FFFDE7"/>
          </a:solidFill>
          <a:ln w="38100">
            <a:solidFill>
              <a:srgbClr val="FFD7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18783" y="1422053"/>
            <a:ext cx="23230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8783" y="1739503"/>
            <a:ext cx="23230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2M Coverage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8783" y="1993404"/>
            <a:ext cx="232306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$3,346/yr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18783" y="2256830"/>
            <a:ext cx="23230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19-25 starting rate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18783" y="2447330"/>
            <a:ext cx="23230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- All benefits included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594473"/>
            <a:ext cx="8229600" cy="345877"/>
          </a:xfrm>
          <a:prstGeom prst="roundRect">
            <a:avLst>
              <a:gd name="adj" fmla="val 22031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82117" y="4695974"/>
            <a:ext cx="7979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low as $1.52/day for Plan A at age 19-25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30101"/>
            <a:ext cx="8229600" cy="190500"/>
          </a:xfrm>
          <a:prstGeom prst="roundRect">
            <a:avLst>
              <a:gd name="adj" fmla="val 26667"/>
            </a:avLst>
          </a:prstGeom>
          <a:solidFill>
            <a:srgbClr val="00B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8201"/>
            <a:ext cx="80832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ROYALE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6801"/>
            <a:ext cx="106984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PREMIUMS (USD)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45952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 (USD 1M Coverage) by Age Group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30052"/>
            <a:ext cx="8229600" cy="145852"/>
          </a:xfrm>
          <a:prstGeom prst="roundRect">
            <a:avLst>
              <a:gd name="adj" fmla="val 34830"/>
            </a:avLst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155353"/>
            <a:ext cx="81871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 SHOWN - MOST POPULAR</a:t>
            </a:r>
            <a:endParaRPr lang="en-US" sz="7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35050" y="1444377"/>
          <a:ext cx="7873901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30101"/>
            <a:ext cx="8229600" cy="190500"/>
          </a:xfrm>
          <a:prstGeom prst="roundRect">
            <a:avLst>
              <a:gd name="adj" fmla="val 26667"/>
            </a:avLst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8201"/>
            <a:ext cx="80832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FLEXISHIELD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6801"/>
            <a:ext cx="106984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DEDUCTIBLE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45952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2M coverage + PHP 1,000/day hospital income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55502"/>
            <a:ext cx="1120825" cy="215801"/>
          </a:xfrm>
          <a:prstGeom prst="roundRect">
            <a:avLst>
              <a:gd name="adj" fmla="val 23540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4150" y="1206252"/>
            <a:ext cx="8842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2M Coverage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30425" y="1155502"/>
            <a:ext cx="1216819" cy="215801"/>
          </a:xfrm>
          <a:prstGeom prst="roundRect">
            <a:avLst>
              <a:gd name="adj" fmla="val 23540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57375" y="1206252"/>
            <a:ext cx="9821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1K/Day Income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498253"/>
            <a:ext cx="1981200" cy="2978795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38100">
            <a:solidFill>
              <a:srgbClr val="FF57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2250" y="1688753"/>
            <a:ext cx="16841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 50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2250" y="1977628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HMO 50K-99K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2250" y="2212479"/>
            <a:ext cx="16841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P9,350/yr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2250" y="2447330"/>
            <a:ext cx="16841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0-20 starting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39901" y="1498253"/>
            <a:ext cx="1981349" cy="2978795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38100">
            <a:solidFill>
              <a:srgbClr val="00B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04951" y="1688753"/>
            <a:ext cx="16842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 100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04951" y="1977628"/>
            <a:ext cx="16842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HMO 100K-149K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04951" y="2212479"/>
            <a:ext cx="16842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P7,160/yr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04951" y="2447330"/>
            <a:ext cx="16842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0-20 starting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22750" y="1498253"/>
            <a:ext cx="1981200" cy="2978795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38100">
            <a:solidFill>
              <a:srgbClr val="FF57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87801" y="1688753"/>
            <a:ext cx="16841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 150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87801" y="1977628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HMO 150K-199K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87801" y="2212479"/>
            <a:ext cx="16841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P6,510/yr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87801" y="2447330"/>
            <a:ext cx="16841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0-20 starting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705451" y="1498253"/>
            <a:ext cx="1981349" cy="2978795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38100">
            <a:solidFill>
              <a:srgbClr val="00B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70502" y="1688753"/>
            <a:ext cx="16842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 200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70502" y="1977628"/>
            <a:ext cx="16842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HMO 200K+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70502" y="2212479"/>
            <a:ext cx="16842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P6,510/yr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70502" y="2447330"/>
            <a:ext cx="16842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0-20 starting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4603998"/>
            <a:ext cx="8229600" cy="336352"/>
          </a:xfrm>
          <a:prstGeom prst="roundRect">
            <a:avLst>
              <a:gd name="adj" fmla="val 22655"/>
            </a:avLst>
          </a:prstGeom>
          <a:solidFill>
            <a:srgbClr val="00B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82117" y="4705499"/>
            <a:ext cx="79797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HMO limit = Higher premium. Higher HMO = More savings!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30101"/>
            <a:ext cx="8229600" cy="190500"/>
          </a:xfrm>
          <a:prstGeom prst="roundRect">
            <a:avLst>
              <a:gd name="adj" fmla="val 26667"/>
            </a:avLst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8201"/>
            <a:ext cx="80832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FLEXISHIELD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6801"/>
            <a:ext cx="106984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PREMIUMS (PHP)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45952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 100 (HMO 100K-149K) by Age Group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30052"/>
            <a:ext cx="8229600" cy="145852"/>
          </a:xfrm>
          <a:prstGeom prst="roundRect">
            <a:avLst>
              <a:gd name="adj" fmla="val 34830"/>
            </a:avLst>
          </a:prstGeom>
          <a:solidFill>
            <a:srgbClr val="00B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155353"/>
            <a:ext cx="81871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 100 SHOWN - MIDDLE TIER</a:t>
            </a:r>
            <a:endParaRPr lang="en-US" sz="7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35050" y="1444377"/>
          <a:ext cx="7873901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190500"/>
          </a:xfrm>
          <a:prstGeom prst="roundRect">
            <a:avLst>
              <a:gd name="adj" fmla="val 2666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6700"/>
            <a:ext cx="80832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95300"/>
            <a:ext cx="106984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ROYALE vs FLEXISHIELD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44451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TO HEAD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9302"/>
          <a:ext cx="8229600" cy="3936950"/>
        </p:xfrm>
        <a:graphic>
          <a:graphicData uri="http://schemas.openxmlformats.org/drawingml/2006/table">
            <a:tbl>
              <a:tblPr/>
              <a:tblGrid>
                <a:gridCol w="1975104"/>
                <a:gridCol w="3127248"/>
                <a:gridCol w="3127248"/>
              </a:tblGrid>
              <a:tr h="2460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Blue Royale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FlexiShield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/>
                    </a:solidFill>
                  </a:tcPr>
                </a:tc>
              </a:tr>
              <a:tr h="246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Max Coverage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BFFF"/>
                          </a:solidFill>
                        </a:rPr>
                        <a:t>USD 500K-2M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5722"/>
                          </a:solidFill>
                        </a:rPr>
                        <a:t>PHP 2M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Plans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3 (A/B/C)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4 (deductible tiers)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246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Currency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USD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PHP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Hospital Choice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BFFF"/>
                          </a:solidFill>
                        </a:rPr>
                        <a:t>ANY worldwide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PH HMO network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246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Age Range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</a:rPr>
                        <a:t>0-100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0-70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Requires HMO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4CAF50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CC3333"/>
                          </a:solidFill>
                        </a:rPr>
                        <a:t>Yes (first layer)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246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Maternity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4CAF50"/>
                          </a:solidFill>
                        </a:rPr>
                        <a:t>Plan B/C only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CC3333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COVID-19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4CAF50"/>
                          </a:solidFill>
                        </a:rPr>
                        <a:t>Yes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4CAF50"/>
                          </a:solidFill>
                        </a:rPr>
                        <a:t>Yes (pandemic waived)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246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Daily Hospital Income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CC3333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5722"/>
                          </a:solidFill>
                        </a:rPr>
                        <a:t>PHP 1,000/day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Dental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C included, A/B optional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CC3333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246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Vision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4CAF50"/>
                          </a:solidFill>
                        </a:rPr>
                        <a:t>Plan B/C included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CC3333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Travel Benefits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BFFF"/>
                          </a:solidFill>
                        </a:rPr>
                        <a:t>Extensive (Trip, Baggage, etc.)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CC3333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246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Premium Range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BFFF"/>
                          </a:solidFill>
                        </a:rPr>
                        <a:t>$1,575-$59,762/yr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5722"/>
                          </a:solidFill>
                        </a:rPr>
                        <a:t>P6,510-P63,972/yr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Qualifying Period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30 days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After HMO MBL exhausted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2460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</a:rPr>
                        <a:t>Physical Exam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4CAF50"/>
                          </a:solidFill>
                        </a:rPr>
                        <a:t>Not required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4CAF50"/>
                          </a:solidFill>
                        </a:rPr>
                        <a:t>Not required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8229600" cy="190500"/>
          </a:xfrm>
          <a:prstGeom prst="roundRect">
            <a:avLst>
              <a:gd name="adj" fmla="val 2666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2900"/>
            <a:ext cx="80832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PACIFIC CROSS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71500"/>
            <a:ext cx="106984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US DIFFERENT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47601"/>
            <a:ext cx="3048000" cy="1238399"/>
          </a:xfrm>
          <a:prstGeom prst="roundRect">
            <a:avLst>
              <a:gd name="adj" fmla="val 8204"/>
            </a:avLst>
          </a:prstGeom>
          <a:solidFill>
            <a:srgbClr val="FFFFFF"/>
          </a:solidFill>
          <a:ln w="38100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12126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2029" y="12808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7700" y="1542752"/>
            <a:ext cx="2720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75+ Years in the Philippines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7700" y="1710928"/>
            <a:ext cx="2720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non-life insurer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06701" y="1047601"/>
            <a:ext cx="3048000" cy="1238399"/>
          </a:xfrm>
          <a:prstGeom prst="roundRect">
            <a:avLst>
              <a:gd name="adj" fmla="val 8204"/>
            </a:avLst>
          </a:prstGeom>
          <a:solidFill>
            <a:srgbClr val="FFFFFF"/>
          </a:solidFill>
          <a:ln w="38100">
            <a:solidFill>
              <a:srgbClr val="FFD7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97201" y="12126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01529" y="12808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97201" y="1542752"/>
            <a:ext cx="2720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9001:2015 Certified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7201" y="1710928"/>
            <a:ext cx="2720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quality standard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387501"/>
            <a:ext cx="3048000" cy="1238399"/>
          </a:xfrm>
          <a:prstGeom prst="roundRect">
            <a:avLst>
              <a:gd name="adj" fmla="val 8204"/>
            </a:avLst>
          </a:prstGeom>
          <a:solidFill>
            <a:srgbClr val="FFFFFF"/>
          </a:solidFill>
          <a:ln w="38100">
            <a:solidFill>
              <a:srgbClr val="FF57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7700" y="255255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52029" y="262071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7700" y="2882652"/>
            <a:ext cx="2720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Physical Exam Required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7700" y="3050828"/>
            <a:ext cx="2720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answer the health questionnaire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06701" y="2387501"/>
            <a:ext cx="3048000" cy="1238399"/>
          </a:xfrm>
          <a:prstGeom prst="roundRect">
            <a:avLst>
              <a:gd name="adj" fmla="val 8204"/>
            </a:avLst>
          </a:prstGeom>
          <a:solidFill>
            <a:srgbClr val="FFFFFF"/>
          </a:solidFill>
          <a:ln w="38100">
            <a:solidFill>
              <a:srgbClr val="00B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97201" y="255255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01529" y="262071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97201" y="2882652"/>
            <a:ext cx="2720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to Age 100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97201" y="3050828"/>
            <a:ext cx="2720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Royale guaranteed renewable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727400"/>
            <a:ext cx="3048000" cy="1238399"/>
          </a:xfrm>
          <a:prstGeom prst="roundRect">
            <a:avLst>
              <a:gd name="adj" fmla="val 8204"/>
            </a:avLst>
          </a:prstGeom>
          <a:solidFill>
            <a:srgbClr val="FFFFFF"/>
          </a:solidFill>
          <a:ln w="38100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7700" y="389245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52029" y="396061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7700" y="4222552"/>
            <a:ext cx="2720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Office Locations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7700" y="4390727"/>
            <a:ext cx="2720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Makati, Cebu, Clark, Davao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06701" y="3727400"/>
            <a:ext cx="3048000" cy="1238399"/>
          </a:xfrm>
          <a:prstGeom prst="roundRect">
            <a:avLst>
              <a:gd name="adj" fmla="val 8204"/>
            </a:avLst>
          </a:prstGeom>
          <a:solidFill>
            <a:srgbClr val="FFFFFF"/>
          </a:solidFill>
          <a:ln w="38100">
            <a:solidFill>
              <a:srgbClr val="FFD7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797201" y="389245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901529" y="396061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97201" y="4222552"/>
            <a:ext cx="27203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Worldwide Assistance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97201" y="4390727"/>
            <a:ext cx="2720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evacuation, repatriation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B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30101"/>
            <a:ext cx="8229600" cy="190500"/>
          </a:xfrm>
          <a:prstGeom prst="roundRect">
            <a:avLst>
              <a:gd name="adj" fmla="val 26667"/>
            </a:avLst>
          </a:prstGeom>
          <a:solidFill>
            <a:srgbClr val="00B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8201"/>
            <a:ext cx="80832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6801"/>
            <a:ext cx="106984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CLAIMS 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45952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simple ways to get covered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1702"/>
            <a:ext cx="4025950" cy="3708648"/>
          </a:xfrm>
          <a:prstGeom prst="roundRect">
            <a:avLst>
              <a:gd name="adj" fmla="val 3424"/>
            </a:avLst>
          </a:prstGeom>
          <a:solidFill>
            <a:srgbClr val="FFFFFF"/>
          </a:solidFill>
          <a:ln w="38100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3001" y="1472952"/>
            <a:ext cx="3594348" cy="323850"/>
          </a:xfrm>
          <a:prstGeom prst="roundRect">
            <a:avLst>
              <a:gd name="adj" fmla="val 23529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99951" y="1549152"/>
            <a:ext cx="340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NO-CASH-OUTLAY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3001" y="19237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9023" y="1980902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77801" y="1923752"/>
            <a:ext cx="1222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accredited hospital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3001" y="225385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9023" y="2311003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77801" y="2253853"/>
            <a:ext cx="19438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Pacific Cross Health Care Card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3001" y="258395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9023" y="2641104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77801" y="2583954"/>
            <a:ext cx="17688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bills Pacific Cross directly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3001" y="291405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9023" y="2971205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77801" y="2914055"/>
            <a:ext cx="1727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pay nothing at the hospital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0850" y="1231702"/>
            <a:ext cx="4025950" cy="3708648"/>
          </a:xfrm>
          <a:prstGeom prst="roundRect">
            <a:avLst>
              <a:gd name="adj" fmla="val 3424"/>
            </a:avLst>
          </a:prstGeom>
          <a:solidFill>
            <a:srgbClr val="FFFFFF"/>
          </a:solidFill>
          <a:ln w="38100">
            <a:solidFill>
              <a:srgbClr val="FFD7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76651" y="1472952"/>
            <a:ext cx="3594348" cy="323850"/>
          </a:xfrm>
          <a:prstGeom prst="roundRect">
            <a:avLst>
              <a:gd name="adj" fmla="val 23529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03602" y="1549152"/>
            <a:ext cx="3407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REIMBURSEMENT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76651" y="19237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62674" y="1980902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81451" y="1923752"/>
            <a:ext cx="14236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any hospital worldwide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76651" y="225385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62674" y="2311003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81451" y="2253853"/>
            <a:ext cx="12703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hospital yourself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76651" y="258395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62674" y="2641104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81451" y="2583954"/>
            <a:ext cx="21705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claims documents to Pacific Cross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76651" y="291405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62674" y="2971205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81451" y="2914055"/>
            <a:ext cx="15937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reimbursed to your bank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8229600" cy="190500"/>
          </a:xfrm>
          <a:prstGeom prst="roundRect">
            <a:avLst>
              <a:gd name="adj" fmla="val 26667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2900"/>
            <a:ext cx="80832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ROYALE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71500"/>
            <a:ext cx="106984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MORE ON BLUE ROYALE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20651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Deductible discounts reduce your premium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680049"/>
            <a:ext cx="8229600" cy="285750"/>
          </a:xfrm>
          <a:prstGeom prst="roundRect">
            <a:avLst>
              <a:gd name="adj" fmla="val 2666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6159" y="4756249"/>
            <a:ext cx="8031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deductible = Lower premium. Choose what fits your budget!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30201"/>
          <a:ext cx="8229600" cy="3365450"/>
        </p:xfrm>
        <a:graphic>
          <a:graphicData uri="http://schemas.openxmlformats.org/drawingml/2006/table">
            <a:tbl>
              <a:tblPr/>
              <a:tblGrid>
                <a:gridCol w="2880360"/>
                <a:gridCol w="1785823"/>
                <a:gridCol w="1785823"/>
                <a:gridCol w="1785823"/>
              </a:tblGrid>
              <a:tr h="673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Deductible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Plan 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Plan 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Plan 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</a:tr>
              <a:tr h="673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$1,000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15% OFF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3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$2,500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30% OFF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18% OFF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18% OFF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673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$5,000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40% OFF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24% OFF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24% OFF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3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Treatment Area Limitation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25% OFF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25% OFF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25% OFF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68201"/>
            <a:ext cx="634901" cy="50750"/>
          </a:xfrm>
          <a:prstGeom prst="roundRect">
            <a:avLst>
              <a:gd name="adj" fmla="val 50049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495151"/>
            <a:ext cx="102364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585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OFW GOLDMINE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4901" y="872877"/>
            <a:ext cx="8031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MASSIVE UNTAPPED MARKET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4901" y="1133177"/>
            <a:ext cx="2523083" cy="717352"/>
          </a:xfrm>
          <a:prstGeom prst="roundRect">
            <a:avLst>
              <a:gd name="adj" fmla="val 10622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5118" y="1260128"/>
            <a:ext cx="226264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A3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2.2M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118" y="1609279"/>
            <a:ext cx="22626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OFWs Worldwide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10384" y="1133177"/>
            <a:ext cx="2523232" cy="717352"/>
          </a:xfrm>
          <a:prstGeom prst="roundRect">
            <a:avLst>
              <a:gd name="adj" fmla="val 10622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40600" y="1260128"/>
            <a:ext cx="226280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A3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$36B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40600" y="1609279"/>
            <a:ext cx="22628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Remittances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86016" y="1133177"/>
            <a:ext cx="2523083" cy="717352"/>
          </a:xfrm>
          <a:prstGeom prst="roundRect">
            <a:avLst>
              <a:gd name="adj" fmla="val 10622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16233" y="1260128"/>
            <a:ext cx="226264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A3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HIGH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16233" y="1609279"/>
            <a:ext cx="22626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Risks Abroad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4901" y="2002929"/>
            <a:ext cx="2523083" cy="641152"/>
          </a:xfrm>
          <a:prstGeom prst="roundRect">
            <a:avLst>
              <a:gd name="adj" fmla="val 118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58713" y="2002929"/>
            <a:ext cx="0" cy="641152"/>
          </a:xfrm>
          <a:prstGeom prst="line">
            <a:avLst/>
          </a:prstGeom>
          <a:noFill/>
          <a:ln w="47625">
            <a:solidFill>
              <a:srgbClr val="FF6A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0227" y="2180630"/>
            <a:ext cx="21624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OFWs send money home but don't protect themselves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384" y="2002929"/>
            <a:ext cx="2523232" cy="641152"/>
          </a:xfrm>
          <a:prstGeom prst="roundRect">
            <a:avLst>
              <a:gd name="adj" fmla="val 118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34196" y="2002929"/>
            <a:ext cx="0" cy="641152"/>
          </a:xfrm>
          <a:prstGeom prst="line">
            <a:avLst/>
          </a:prstGeom>
          <a:noFill/>
          <a:ln w="47625">
            <a:solidFill>
              <a:srgbClr val="FF6A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5710" y="2180630"/>
            <a:ext cx="21626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Royale covers them worldwide with full flexibility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6016" y="2002929"/>
            <a:ext cx="2523083" cy="641152"/>
          </a:xfrm>
          <a:prstGeom prst="roundRect">
            <a:avLst>
              <a:gd name="adj" fmla="val 118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09829" y="2002929"/>
            <a:ext cx="0" cy="641152"/>
          </a:xfrm>
          <a:prstGeom prst="line">
            <a:avLst/>
          </a:prstGeom>
          <a:noFill/>
          <a:ln w="47625">
            <a:solidFill>
              <a:srgbClr val="FF6A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1342" y="2180630"/>
            <a:ext cx="21624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FlexiShield protects the family they leave behind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04800"/>
            <a:ext cx="634901" cy="50750"/>
          </a:xfrm>
          <a:prstGeom prst="roundRect">
            <a:avLst>
              <a:gd name="adj" fmla="val 50049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31750"/>
            <a:ext cx="102364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FF6A3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MYTHS THAT COST FILIPINOS EVERYTHING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34901" y="780901"/>
            <a:ext cx="8031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 ABOUT INSURANCE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34901" y="1066651"/>
            <a:ext cx="2892326" cy="1244352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8713" y="1066651"/>
            <a:ext cx="0" cy="1244352"/>
          </a:xfrm>
          <a:prstGeom prst="line">
            <a:avLst/>
          </a:prstGeom>
          <a:noFill/>
          <a:ln w="47625">
            <a:solidFill>
              <a:srgbClr val="FF6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5676" y="146506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3137" y="1490365"/>
            <a:ext cx="2589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5676" y="1769715"/>
            <a:ext cx="24871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MYTH: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I'm young, I don't need insurance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4177" y="1066651"/>
            <a:ext cx="2892326" cy="1244352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677989" y="1066651"/>
            <a:ext cx="0" cy="1244352"/>
          </a:xfrm>
          <a:prstGeom prst="line">
            <a:avLst/>
          </a:prstGeom>
          <a:noFill/>
          <a:ln w="47625">
            <a:solidFill>
              <a:srgbClr val="FF6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4952" y="146506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02413" y="1490365"/>
            <a:ext cx="2589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04952" y="1769715"/>
            <a:ext cx="24871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MYTH: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My company HMO is enough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4901" y="2437954"/>
            <a:ext cx="2892326" cy="1244352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58713" y="2437954"/>
            <a:ext cx="0" cy="1244352"/>
          </a:xfrm>
          <a:prstGeom prst="line">
            <a:avLst/>
          </a:prstGeom>
          <a:noFill/>
          <a:ln w="47625">
            <a:solidFill>
              <a:srgbClr val="FF6A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676" y="283636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3137" y="2861667"/>
            <a:ext cx="2589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85676" y="3141018"/>
            <a:ext cx="24871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MYTH: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Insurance is too expensive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4177" y="2437954"/>
            <a:ext cx="2892326" cy="1244352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677989" y="2437954"/>
            <a:ext cx="0" cy="1244352"/>
          </a:xfrm>
          <a:prstGeom prst="line">
            <a:avLst/>
          </a:prstGeom>
          <a:noFill/>
          <a:ln w="47625">
            <a:solidFill>
              <a:srgbClr val="FF6A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04952" y="283636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02413" y="2861667"/>
            <a:ext cx="2589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904952" y="3141018"/>
            <a:ext cx="24871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MYTH: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I'll just save for emergencies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4901" y="3809256"/>
            <a:ext cx="2892326" cy="1244352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8713" y="3809256"/>
            <a:ext cx="0" cy="1244352"/>
          </a:xfrm>
          <a:prstGeom prst="line">
            <a:avLst/>
          </a:prstGeom>
          <a:noFill/>
          <a:ln w="47625">
            <a:solidFill>
              <a:srgbClr val="FF6A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5676" y="420766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83137" y="4232970"/>
            <a:ext cx="2589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85676" y="4512320"/>
            <a:ext cx="24871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MYTH: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Insurance companies don't pay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4177" y="3809256"/>
            <a:ext cx="2892326" cy="1244352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677989" y="3809256"/>
            <a:ext cx="0" cy="1244352"/>
          </a:xfrm>
          <a:prstGeom prst="line">
            <a:avLst/>
          </a:prstGeom>
          <a:noFill/>
          <a:ln w="47625">
            <a:solidFill>
              <a:srgbClr val="FF6A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04952" y="420766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902413" y="4232970"/>
            <a:ext cx="2589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04952" y="4512320"/>
            <a:ext cx="24871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MYTH:</a:t>
            </a:r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I'll get it when I'm older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42751"/>
            <a:ext cx="634901" cy="50750"/>
          </a:xfrm>
          <a:prstGeom prst="roundRect">
            <a:avLst>
              <a:gd name="adj" fmla="val 50049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469702"/>
            <a:ext cx="102364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585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MYTH vs FACT: THE TRUTH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4901" y="818852"/>
            <a:ext cx="8031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DEBUNKING COMMON INSURANCE MISCONCEPTIONS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4901" y="1079153"/>
            <a:ext cx="2506266" cy="606326"/>
          </a:xfrm>
          <a:prstGeom prst="rect">
            <a:avLst/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2602" y="1231553"/>
            <a:ext cx="21938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2602" y="1390204"/>
            <a:ext cx="2193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healthy, I don't need it.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4901" y="1685479"/>
            <a:ext cx="2506266" cy="12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127" y="1847404"/>
            <a:ext cx="2174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5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127" y="2006054"/>
            <a:ext cx="2174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of Filipinos face a major health event by age 50. Premiums are lowest when young.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18867" y="1079153"/>
            <a:ext cx="2506266" cy="606326"/>
          </a:xfrm>
          <a:prstGeom prst="rect">
            <a:avLst/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96568" y="1231553"/>
            <a:ext cx="21938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96568" y="1390204"/>
            <a:ext cx="2193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HMO covers everything.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8867" y="1685479"/>
            <a:ext cx="2506266" cy="12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06093" y="1847404"/>
            <a:ext cx="2174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5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06093" y="2006054"/>
            <a:ext cx="2174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HMO limit: PHP 150K-300K. Major illness bills: PHP 500K-5M. FlexiShield bridges that gap.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02834" y="1079153"/>
            <a:ext cx="2506266" cy="606326"/>
          </a:xfrm>
          <a:prstGeom prst="rect">
            <a:avLst/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80534" y="1231553"/>
            <a:ext cx="21938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80534" y="1390204"/>
            <a:ext cx="2193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can't afford it.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02834" y="1685479"/>
            <a:ext cx="2506266" cy="121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90059" y="1847404"/>
            <a:ext cx="2174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5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0059" y="2006054"/>
            <a:ext cx="2174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FlexiShield premiums cost less than a monthly mobile data plan. One hospital stay wipes out years of savings.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68201"/>
            <a:ext cx="634901" cy="50750"/>
          </a:xfrm>
          <a:prstGeom prst="roundRect">
            <a:avLst>
              <a:gd name="adj" fmla="val 50049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495151"/>
            <a:ext cx="102364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585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5-STEP ADVISOR PLAYBOOK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4901" y="872877"/>
            <a:ext cx="8031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CLIENT CONVERSATION FLOW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4901" y="1183928"/>
            <a:ext cx="1526530" cy="1209526"/>
          </a:xfrm>
          <a:prstGeom prst="roundRect">
            <a:avLst>
              <a:gd name="adj" fmla="val 63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07591" y="133632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54827" y="1441103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125" y="1818829"/>
            <a:ext cx="12980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5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125" y="2012454"/>
            <a:ext cx="12980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worries you most about healthcare?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12181" y="1183928"/>
            <a:ext cx="1526679" cy="1209526"/>
          </a:xfrm>
          <a:prstGeom prst="roundRect">
            <a:avLst>
              <a:gd name="adj" fmla="val 63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85021" y="133632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32256" y="1441103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26404" y="1818829"/>
            <a:ext cx="1298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5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26404" y="2012454"/>
            <a:ext cx="1298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PH insurance reality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89611" y="1183928"/>
            <a:ext cx="1526530" cy="1209526"/>
          </a:xfrm>
          <a:prstGeom prst="roundRect">
            <a:avLst>
              <a:gd name="adj" fmla="val 63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62301" y="133632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09537" y="1441103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03835" y="1818829"/>
            <a:ext cx="12980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5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03835" y="2012454"/>
            <a:ext cx="12980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product to their life stage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66891" y="1183928"/>
            <a:ext cx="1526679" cy="1209526"/>
          </a:xfrm>
          <a:prstGeom prst="roundRect">
            <a:avLst>
              <a:gd name="adj" fmla="val 63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39730" y="133632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86966" y="1441103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1114" y="1818829"/>
            <a:ext cx="1298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5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1114" y="2012454"/>
            <a:ext cx="1298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concrete cost comparisons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44320" y="1183928"/>
            <a:ext cx="1564779" cy="1247626"/>
          </a:xfrm>
          <a:prstGeom prst="roundRect">
            <a:avLst>
              <a:gd name="adj" fmla="val 6108"/>
            </a:avLst>
          </a:prstGeom>
          <a:solidFill>
            <a:srgbClr val="FFFFFF"/>
          </a:solidFill>
          <a:ln w="19050">
            <a:solidFill>
              <a:srgbClr val="FF6A3B"/>
            </a:solidFill>
          </a:ln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36210" y="135537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83445" y="1460153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77593" y="1837879"/>
            <a:ext cx="1298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77593" y="2031504"/>
            <a:ext cx="1298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them to the right decision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68201"/>
            <a:ext cx="634901" cy="50750"/>
          </a:xfrm>
          <a:prstGeom prst="roundRect">
            <a:avLst>
              <a:gd name="adj" fmla="val 50049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495151"/>
            <a:ext cx="102364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585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HANDLING OBJECTIONS LIKE A PRO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4901" y="872877"/>
            <a:ext cx="8031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OBJECTIONS AND PROVEN RESPONSES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901" y="1107728"/>
          <a:ext cx="7873901" cy="3810000"/>
        </p:xfrm>
        <a:graphic>
          <a:graphicData uri="http://schemas.openxmlformats.org/drawingml/2006/table">
            <a:tbl>
              <a:tblPr/>
              <a:tblGrid>
                <a:gridCol w="2755865"/>
                <a:gridCol w="5118036"/>
              </a:tblGrid>
              <a:tr h="635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Objection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5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Your Response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57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i="1" dirty="0">
                          <a:solidFill>
                            <a:srgbClr val="1A1A1A"/>
                          </a:solidFill>
                        </a:rPr>
                        <a:t>"I need to think about it"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"Of course! But premiums increase yearly. Lock in your rate now."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i="1" dirty="0">
                          <a:solidFill>
                            <a:srgbClr val="1A1A1A"/>
                          </a:solidFill>
                        </a:rPr>
                        <a:t>"It's too expensive"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"What's the cost of a single ICU day vs. years of protection?"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i="1" dirty="0">
                          <a:solidFill>
                            <a:srgbClr val="1A1A1A"/>
                          </a:solidFill>
                        </a:rPr>
                        <a:t>"I already have HMO"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"Great! FlexiShield adds PHP 2M on top of your HMO."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i="1" dirty="0">
                          <a:solidFill>
                            <a:srgbClr val="1A1A1A"/>
                          </a:solidFill>
                        </a:rPr>
                        <a:t>"I'm too young"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"That's exactly why you get the lowest rates. Don't wait."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4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i="1" dirty="0">
                          <a:solidFill>
                            <a:srgbClr val="1A1A1A"/>
                          </a:solidFill>
                        </a:rPr>
                        <a:t>"Insurance is a scam"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"Pacific Cross has protected Filipinos for 75+ years. Trusted by thousands."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42751"/>
            <a:ext cx="634901" cy="50750"/>
          </a:xfrm>
          <a:prstGeom prst="roundRect">
            <a:avLst>
              <a:gd name="adj" fmla="val 50049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469702"/>
            <a:ext cx="102364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585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SOCIAL MEDIA: YOUR 24/7 SALESPERSON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4901" y="818852"/>
            <a:ext cx="8031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CONTENT PILLARS FOR CONSISTENT ENGAGEMENT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4901" y="1079153"/>
            <a:ext cx="2793802" cy="730002"/>
          </a:xfrm>
          <a:prstGeom prst="roundRect">
            <a:avLst>
              <a:gd name="adj" fmla="val 104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098203"/>
            <a:ext cx="2793802" cy="0"/>
          </a:xfrm>
          <a:prstGeom prst="line">
            <a:avLst/>
          </a:prstGeom>
          <a:noFill/>
          <a:ln w="38100">
            <a:solidFill>
              <a:srgbClr val="1585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602" y="1294954"/>
            <a:ext cx="2487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5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Literacy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602" y="1498104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posts about insurance basics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55653" y="1079153"/>
            <a:ext cx="2793802" cy="730002"/>
          </a:xfrm>
          <a:prstGeom prst="roundRect">
            <a:avLst>
              <a:gd name="adj" fmla="val 104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555653" y="1098203"/>
            <a:ext cx="2793802" cy="0"/>
          </a:xfrm>
          <a:prstGeom prst="line">
            <a:avLst/>
          </a:prstGeom>
          <a:noFill/>
          <a:ln w="38100">
            <a:solidFill>
              <a:srgbClr val="FF6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3354" y="1294954"/>
            <a:ext cx="2487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Stories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33354" y="1498104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testimonials and success stories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901" y="1936105"/>
            <a:ext cx="2793802" cy="730002"/>
          </a:xfrm>
          <a:prstGeom prst="roundRect">
            <a:avLst>
              <a:gd name="adj" fmla="val 104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34901" y="1955155"/>
            <a:ext cx="2793802" cy="0"/>
          </a:xfrm>
          <a:prstGeom prst="line">
            <a:avLst/>
          </a:prstGeom>
          <a:noFill/>
          <a:ln w="38100">
            <a:solidFill>
              <a:srgbClr val="1585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602" y="2151906"/>
            <a:ext cx="2487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5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 Busting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2602" y="2355056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Debunking common misconceptions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55653" y="1936105"/>
            <a:ext cx="2793802" cy="730002"/>
          </a:xfrm>
          <a:prstGeom prst="roundRect">
            <a:avLst>
              <a:gd name="adj" fmla="val 104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555653" y="1955155"/>
            <a:ext cx="2793802" cy="0"/>
          </a:xfrm>
          <a:prstGeom prst="line">
            <a:avLst/>
          </a:prstGeom>
          <a:noFill/>
          <a:ln w="38100">
            <a:solidFill>
              <a:srgbClr val="FF6A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3354" y="2151906"/>
            <a:ext cx="2487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Hacks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33354" y="2355056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tips for health and finance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4901" y="2793057"/>
            <a:ext cx="2793802" cy="730002"/>
          </a:xfrm>
          <a:prstGeom prst="roundRect">
            <a:avLst>
              <a:gd name="adj" fmla="val 104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34901" y="2812107"/>
            <a:ext cx="2793802" cy="0"/>
          </a:xfrm>
          <a:prstGeom prst="line">
            <a:avLst/>
          </a:prstGeom>
          <a:noFill/>
          <a:ln w="38100">
            <a:solidFill>
              <a:srgbClr val="1585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602" y="3008858"/>
            <a:ext cx="2487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5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News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2602" y="3212009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updates and policy changes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55653" y="2793057"/>
            <a:ext cx="2793802" cy="730002"/>
          </a:xfrm>
          <a:prstGeom prst="roundRect">
            <a:avLst>
              <a:gd name="adj" fmla="val 104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555653" y="2812107"/>
            <a:ext cx="2793802" cy="0"/>
          </a:xfrm>
          <a:prstGeom prst="line">
            <a:avLst/>
          </a:prstGeom>
          <a:noFill/>
          <a:ln w="38100">
            <a:solidFill>
              <a:srgbClr val="FF6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3354" y="3008858"/>
            <a:ext cx="2487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Relatable Humor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33354" y="3212009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Memes and trending formats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4901" y="3650010"/>
            <a:ext cx="7874198" cy="336352"/>
          </a:xfrm>
          <a:prstGeom prst="roundRect">
            <a:avLst>
              <a:gd name="adj" fmla="val 151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58713" y="3650010"/>
            <a:ext cx="0" cy="336352"/>
          </a:xfrm>
          <a:prstGeom prst="line">
            <a:avLst/>
          </a:prstGeom>
          <a:noFill/>
          <a:ln w="47625">
            <a:solidFill>
              <a:srgbClr val="1585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0227" y="3751511"/>
            <a:ext cx="7620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consistently:</a:t>
            </a:r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3-5 times per week across Facebook and Instagram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42751"/>
            <a:ext cx="634901" cy="50750"/>
          </a:xfrm>
          <a:prstGeom prst="roundRect">
            <a:avLst>
              <a:gd name="adj" fmla="val 50049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469702"/>
            <a:ext cx="102364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585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YOUR FIRST 90 DAYS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4901" y="847427"/>
            <a:ext cx="8031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30-60-90 DAY ACTION 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4901" y="1107728"/>
            <a:ext cx="2523083" cy="1716286"/>
          </a:xfrm>
          <a:prstGeom prst="roundRect">
            <a:avLst>
              <a:gd name="adj" fmla="val 44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131540"/>
            <a:ext cx="2523083" cy="0"/>
          </a:xfrm>
          <a:prstGeom prst="line">
            <a:avLst/>
          </a:prstGeom>
          <a:noFill/>
          <a:ln w="47625">
            <a:solidFill>
              <a:srgbClr val="1585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602" y="1333054"/>
            <a:ext cx="2167682" cy="434876"/>
          </a:xfrm>
          <a:prstGeom prst="roundRect">
            <a:avLst>
              <a:gd name="adj" fmla="val 11681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39552" y="1409254"/>
            <a:ext cx="19520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9552" y="1577429"/>
            <a:ext cx="19520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B0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&amp; LAUNCH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12602" y="1869430"/>
            <a:ext cx="2167682" cy="77688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product knowledge</a:t>
            </a:r>
            <a:endParaRPr lang="en-US" sz="900" dirty="0"/>
          </a:p>
          <a:p>
            <a:pPr algn="l" marL="76200" indent="-762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social media profiles</a:t>
            </a:r>
            <a:endParaRPr lang="en-US" sz="900" dirty="0"/>
          </a:p>
          <a:p>
            <a:pPr algn="l" marL="76200" indent="-762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first 5 clients</a:t>
            </a:r>
            <a:endParaRPr lang="en-US" sz="900" dirty="0"/>
          </a:p>
          <a:p>
            <a:pPr algn="l" marL="76200" indent="-762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content calendar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10384" y="1107728"/>
            <a:ext cx="2523232" cy="1716286"/>
          </a:xfrm>
          <a:prstGeom prst="roundRect">
            <a:avLst>
              <a:gd name="adj" fmla="val 44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310384" y="1131540"/>
            <a:ext cx="2523232" cy="0"/>
          </a:xfrm>
          <a:prstGeom prst="line">
            <a:avLst/>
          </a:prstGeom>
          <a:noFill/>
          <a:ln w="47625">
            <a:solidFill>
              <a:srgbClr val="FF6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8085" y="1333054"/>
            <a:ext cx="2167830" cy="434876"/>
          </a:xfrm>
          <a:prstGeom prst="roundRect">
            <a:avLst>
              <a:gd name="adj" fmla="val 11681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15035" y="1409254"/>
            <a:ext cx="19522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5035" y="1577429"/>
            <a:ext cx="19522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D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&amp; REACH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88085" y="1869430"/>
            <a:ext cx="2167830" cy="77688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your spiel</a:t>
            </a:r>
            <a:endParaRPr lang="en-US" sz="900" dirty="0"/>
          </a:p>
          <a:p>
            <a:pPr algn="l" marL="76200" indent="-762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community groups</a:t>
            </a:r>
            <a:endParaRPr lang="en-US" sz="900" dirty="0"/>
          </a:p>
          <a:p>
            <a:pPr algn="l" marL="76200" indent="-762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15 clients milestone</a:t>
            </a:r>
            <a:endParaRPr lang="en-US" sz="900" dirty="0"/>
          </a:p>
          <a:p>
            <a:pPr algn="l" marL="76200" indent="-762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earning commission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86016" y="1107728"/>
            <a:ext cx="2523083" cy="1716286"/>
          </a:xfrm>
          <a:prstGeom prst="roundRect">
            <a:avLst>
              <a:gd name="adj" fmla="val 44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986016" y="1131540"/>
            <a:ext cx="2523083" cy="0"/>
          </a:xfrm>
          <a:prstGeom prst="line">
            <a:avLst/>
          </a:prstGeom>
          <a:noFill/>
          <a:ln w="47625">
            <a:solidFill>
              <a:srgbClr val="1585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717" y="1333054"/>
            <a:ext cx="2167682" cy="434876"/>
          </a:xfrm>
          <a:prstGeom prst="roundRect">
            <a:avLst>
              <a:gd name="adj" fmla="val 11681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90667" y="1409254"/>
            <a:ext cx="19520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90667" y="1577429"/>
            <a:ext cx="19520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B0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SYSTEMIZE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63717" y="1869430"/>
            <a:ext cx="2167682" cy="77688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referral network</a:t>
            </a:r>
            <a:endParaRPr lang="en-US" sz="900" dirty="0"/>
          </a:p>
          <a:p>
            <a:pPr algn="l" marL="76200" indent="-762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recurring content</a:t>
            </a:r>
            <a:endParaRPr lang="en-US" sz="900" dirty="0"/>
          </a:p>
          <a:p>
            <a:pPr algn="l" marL="76200" indent="-762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30 clients</a:t>
            </a:r>
            <a:endParaRPr lang="en-US" sz="900" dirty="0"/>
          </a:p>
          <a:p>
            <a:pPr algn="l" marL="76200" indent="-762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team building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68201"/>
            <a:ext cx="634901" cy="50750"/>
          </a:xfrm>
          <a:prstGeom prst="roundRect">
            <a:avLst>
              <a:gd name="adj" fmla="val 50049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495151"/>
            <a:ext cx="1056652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5857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INSURANCE ACROSS EVERY LIFE STAGE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844302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CYCLE TIMELINE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0841" y="1155353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57667" y="1377553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22-30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790254"/>
            <a:ext cx="1564630" cy="698302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7950" y="1809304"/>
            <a:ext cx="1564630" cy="0"/>
          </a:xfrm>
          <a:prstGeom prst="line">
            <a:avLst/>
          </a:prstGeom>
          <a:noFill/>
          <a:ln w="38100">
            <a:solidFill>
              <a:srgbClr val="1585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5835" y="1955304"/>
            <a:ext cx="13888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5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PRO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5835" y="2126754"/>
            <a:ext cx="13888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FlexiShield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5835" y="2266355"/>
            <a:ext cx="13888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protection, build habits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51820" y="1155353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98646" y="1377553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31-40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48780" y="1790254"/>
            <a:ext cx="1564779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148780" y="1809304"/>
            <a:ext cx="1564779" cy="0"/>
          </a:xfrm>
          <a:prstGeom prst="line">
            <a:avLst/>
          </a:prstGeom>
          <a:noFill/>
          <a:ln w="38100">
            <a:solidFill>
              <a:srgbClr val="FF6A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36663" y="1955304"/>
            <a:ext cx="13890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BUILDER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36663" y="2126754"/>
            <a:ext cx="1389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Royale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36663" y="2266355"/>
            <a:ext cx="13890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family, comprehensive cover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292650" y="1155353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39476" y="1377553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41-50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89759" y="1790254"/>
            <a:ext cx="1564630" cy="698302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789759" y="1809304"/>
            <a:ext cx="1564630" cy="0"/>
          </a:xfrm>
          <a:prstGeom prst="line">
            <a:avLst/>
          </a:prstGeom>
          <a:noFill/>
          <a:ln w="38100">
            <a:solidFill>
              <a:srgbClr val="1585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77644" y="1955304"/>
            <a:ext cx="13888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5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EARNER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77644" y="2126754"/>
            <a:ext cx="13888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 + Critical Cover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77644" y="2266355"/>
            <a:ext cx="13888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protection, max earning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933480" y="1155353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80306" y="1377553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51-60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30589" y="1790254"/>
            <a:ext cx="1564630" cy="698302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430589" y="1809304"/>
            <a:ext cx="1564630" cy="0"/>
          </a:xfrm>
          <a:prstGeom prst="line">
            <a:avLst/>
          </a:prstGeom>
          <a:noFill/>
          <a:ln w="38100">
            <a:solidFill>
              <a:srgbClr val="FF6A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8474" y="1955304"/>
            <a:ext cx="13888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PRE-RETIRED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8474" y="2126754"/>
            <a:ext cx="13888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review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18474" y="2266355"/>
            <a:ext cx="13888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focus, gap analysis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574310" y="1155353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158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765767" y="1377553"/>
            <a:ext cx="1756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61+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071420" y="1790254"/>
            <a:ext cx="1564630" cy="698302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7071420" y="1809304"/>
            <a:ext cx="1564630" cy="0"/>
          </a:xfrm>
          <a:prstGeom prst="line">
            <a:avLst/>
          </a:prstGeom>
          <a:noFill/>
          <a:ln w="38100">
            <a:solidFill>
              <a:srgbClr val="1585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59304" y="1955304"/>
            <a:ext cx="13888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5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59304" y="2126754"/>
            <a:ext cx="13888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Royale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59304" y="2266355"/>
            <a:ext cx="13888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care, income protection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8950" y="1204615"/>
            <a:ext cx="762000" cy="63401"/>
          </a:xfrm>
          <a:prstGeom prst="roundRect">
            <a:avLst>
              <a:gd name="adj" fmla="val 60094"/>
            </a:avLst>
          </a:prstGeom>
          <a:solidFill>
            <a:srgbClr val="FF6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8950" y="1471166"/>
            <a:ext cx="9575929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10"/>
              </a:lnSpc>
              <a:spcAft>
                <a:spcPts val="10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FUTURE IS INSURED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88950" y="2094607"/>
            <a:ext cx="75134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0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Philippines insurance market is growing.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88950" y="2345382"/>
            <a:ext cx="75134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0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part of the change.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88950" y="2799308"/>
            <a:ext cx="7366099" cy="634901"/>
          </a:xfrm>
          <a:prstGeom prst="roundRect">
            <a:avLst>
              <a:gd name="adj" fmla="val 8001"/>
            </a:avLst>
          </a:prstGeom>
          <a:noFill/>
          <a:ln w="19050">
            <a:solidFill>
              <a:srgbClr val="FF6A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61901" y="2945309"/>
            <a:ext cx="69566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Filipino deserves protection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901" y="3135809"/>
            <a:ext cx="69566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conversation today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8950" y="3637359"/>
            <a:ext cx="75134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000" dirty="0">
                <a:solidFill>
                  <a:srgbClr val="7F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Cross: #HereForYou for 75+ years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8950" y="3805535"/>
            <a:ext cx="7513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A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pacificcross.com.ph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Pacific Cross Insurance Advisor Training</dc:title>
  <dc:subject>Blue Royale x FlexiShield Training Deck</dc:subject>
  <dc:creator>Pacific Cross Philippines</dc:creator>
  <cp:lastModifiedBy>Pacific Cross Philippines</cp:lastModifiedBy>
  <cp:revision>1</cp:revision>
  <dcterms:created xsi:type="dcterms:W3CDTF">2026-03-30T21:05:51Z</dcterms:created>
  <dcterms:modified xsi:type="dcterms:W3CDTF">2026-03-30T21:05:51Z</dcterms:modified>
</cp:coreProperties>
</file>